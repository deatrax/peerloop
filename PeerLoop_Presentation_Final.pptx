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5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943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9B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BatteryLowInteractive  —  IUT CSE 4790 Industrial Training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169164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PeerLoop</a:t>
            </a:r>
            <a:endParaRPr lang="en-US" sz="7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12724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i="1" dirty="0">
                <a:solidFill>
                  <a:srgbClr val="FF5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Ask once. It doesn't get buried.</a:t>
            </a:r>
            <a:endParaRPr lang="en-US" sz="2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767328"/>
            <a:ext cx="6492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B9B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agentic AI request-resolution layer for university communities — built to work alongside WhatsApp, Messenger, and Classroom, not replace them.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8860536" y="3063240"/>
            <a:ext cx="749808" cy="0"/>
          </a:xfrm>
          <a:prstGeom prst="line">
            <a:avLst/>
          </a:prstGeom>
          <a:noFill/>
          <a:ln w="15875">
            <a:solidFill>
              <a:srgbClr val="FF5A2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232136" y="3063240"/>
            <a:ext cx="749808" cy="0"/>
          </a:xfrm>
          <a:prstGeom prst="line">
            <a:avLst/>
          </a:prstGeom>
          <a:noFill/>
          <a:ln w="15875">
            <a:solidFill>
              <a:srgbClr val="FF5A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38744" y="2752344"/>
            <a:ext cx="621792" cy="621792"/>
          </a:xfrm>
          <a:prstGeom prst="ellipse">
            <a:avLst/>
          </a:prstGeom>
          <a:solidFill>
            <a:srgbClr val="FF5A2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38744" y="2752344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8001000" y="34838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9B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9610344" y="2752344"/>
            <a:ext cx="621792" cy="621792"/>
          </a:xfrm>
          <a:prstGeom prst="ellipse">
            <a:avLst/>
          </a:prstGeom>
          <a:solidFill>
            <a:srgbClr val="FF5A2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610344" y="2752344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9372600" y="34838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9B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0981944" y="2752344"/>
            <a:ext cx="621792" cy="621792"/>
          </a:xfrm>
          <a:prstGeom prst="ellipse">
            <a:avLst/>
          </a:prstGeom>
          <a:solidFill>
            <a:srgbClr val="FF5A2E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0981944" y="2752344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0744200" y="34838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9B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 requests disappear in the noise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7043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students deal with today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27632"/>
            <a:ext cx="402336" cy="402336"/>
          </a:xfrm>
          <a:prstGeom prst="ellipse">
            <a:avLst/>
          </a:prstGeom>
          <a:solidFill>
            <a:srgbClr val="FF5A2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6276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600200"/>
            <a:ext cx="4892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Buried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1874520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6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useful question disappears under dozens of unrelated replies.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560320"/>
            <a:ext cx="402336" cy="402336"/>
          </a:xfrm>
          <a:prstGeom prst="ellipse">
            <a:avLst/>
          </a:prstGeom>
          <a:solidFill>
            <a:srgbClr val="FF5A2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560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2532888"/>
            <a:ext cx="4892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audience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2807208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6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Posted to hundreds of people; the two who could help never see it.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493008"/>
            <a:ext cx="402336" cy="402336"/>
          </a:xfrm>
          <a:prstGeom prst="ellipse">
            <a:avLst/>
          </a:prstGeom>
          <a:solidFill>
            <a:srgbClr val="FF5A2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34930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143000" y="3465576"/>
            <a:ext cx="4892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questions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143000" y="3739896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6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question gets asked again because the old answer can't be found.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4425696"/>
            <a:ext cx="402336" cy="402336"/>
          </a:xfrm>
          <a:prstGeom prst="ellipse">
            <a:avLst/>
          </a:prstGeom>
          <a:solidFill>
            <a:srgbClr val="FF5A2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44256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143000" y="4398264"/>
            <a:ext cx="4892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escalation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143000" y="4672584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6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nobody responds, that's the end of it — there's no next step.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6355080" y="1170432"/>
            <a:ext cx="5257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else solves a different problem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355080" y="1627632"/>
            <a:ext cx="2514600" cy="1572768"/>
          </a:xfrm>
          <a:prstGeom prst="roundRect">
            <a:avLst>
              <a:gd name="adj" fmla="val 6977"/>
            </a:avLst>
          </a:prstGeom>
          <a:solidFill>
            <a:srgbClr val="F2EEE3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537960" y="1773936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apps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6537960" y="2084832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65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GroupMe, Discord, WhatsApp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6537960" y="246888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41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structured tracking or escalation.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9098280" y="1627632"/>
            <a:ext cx="2514600" cy="1572768"/>
          </a:xfrm>
          <a:prstGeom prst="roundRect">
            <a:avLst>
              <a:gd name="adj" fmla="val 6977"/>
            </a:avLst>
          </a:prstGeom>
          <a:solidFill>
            <a:srgbClr val="F2EEE3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281160" y="1773936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FAQ chatbots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9281160" y="2084832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65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CustomGPT.ai, ibl.ai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9281160" y="246888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41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 info only — not peer help.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355080" y="3401568"/>
            <a:ext cx="2514600" cy="1572768"/>
          </a:xfrm>
          <a:prstGeom prst="roundRect">
            <a:avLst>
              <a:gd name="adj" fmla="val 6977"/>
            </a:avLst>
          </a:prstGeom>
          <a:solidFill>
            <a:srgbClr val="F2EEE3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537960" y="354787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Tutoring platforms</a:t>
            </a:r>
            <a:endParaRPr lang="en-US" sz="1350" dirty="0"/>
          </a:p>
        </p:txBody>
      </p:sp>
      <p:sp>
        <p:nvSpPr>
          <p:cNvPr id="31" name="Text 29"/>
          <p:cNvSpPr txBox="1"/>
          <p:nvPr/>
        </p:nvSpPr>
        <p:spPr>
          <a:xfrm>
            <a:off x="6537960" y="3858768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65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Knack, Feyn App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6537960" y="4242816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41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sessions, not quick questions.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9098280" y="3401568"/>
            <a:ext cx="2514600" cy="1572768"/>
          </a:xfrm>
          <a:prstGeom prst="roundRect">
            <a:avLst>
              <a:gd name="adj" fmla="val 6977"/>
            </a:avLst>
          </a:prstGeom>
          <a:solidFill>
            <a:srgbClr val="F2EEE3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9281160" y="354787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Marketplaces</a:t>
            </a:r>
            <a:endParaRPr lang="en-US" sz="1350" dirty="0"/>
          </a:p>
        </p:txBody>
      </p:sp>
      <p:sp>
        <p:nvSpPr>
          <p:cNvPr id="35" name="Text 33"/>
          <p:cNvSpPr txBox="1"/>
          <p:nvPr/>
        </p:nvSpPr>
        <p:spPr>
          <a:xfrm>
            <a:off x="9281160" y="3858768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65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Grid, ShareNet</a:t>
            </a: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9281160" y="4242816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41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Goods and services, not information.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48640" y="5742432"/>
            <a:ext cx="11064240" cy="713232"/>
          </a:xfrm>
          <a:prstGeom prst="roundRect">
            <a:avLst>
              <a:gd name="adj" fmla="val 12821"/>
            </a:avLst>
          </a:prstGeom>
          <a:solidFill>
            <a:srgbClr val="14151F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822960" y="5742432"/>
            <a:ext cx="10515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gap: no single layer combines peer requests, AI knowledge retrieval, and escalation.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first. Bother people only when needed.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F5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decisions do the work of dozens of ignored messages.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536192"/>
            <a:ext cx="534924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9525">
            <a:solidFill>
              <a:srgbClr val="E4DFC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8096" y="1755648"/>
            <a:ext cx="457200" cy="457200"/>
          </a:xfrm>
          <a:prstGeom prst="ellipse">
            <a:avLst/>
          </a:prstGeom>
          <a:solidFill>
            <a:srgbClr val="FF5A2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68096" y="1755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408176" y="1755648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1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stores files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768096" y="2377440"/>
            <a:ext cx="49103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6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its own generated answers, and short pointers back to Classroom — official material stays exactly where it lives.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172200" y="1536192"/>
            <a:ext cx="534924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9525">
            <a:solidFill>
              <a:srgbClr val="E4DFC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91656" y="1755648"/>
            <a:ext cx="457200" cy="457200"/>
          </a:xfrm>
          <a:prstGeom prst="ellipse">
            <a:avLst/>
          </a:prstGeom>
          <a:solidFill>
            <a:srgbClr val="FF5A2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391656" y="1755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7031736" y="1755648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1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Escalates on two axes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6391656" y="2377440"/>
            <a:ext cx="49103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6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Widens the audience for anything peers can answer. Skips straight to the class rep for anything that needs authority.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429000"/>
            <a:ext cx="534924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9525">
            <a:solidFill>
              <a:srgbClr val="E4DFC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68096" y="3648456"/>
            <a:ext cx="457200" cy="457200"/>
          </a:xfrm>
          <a:prstGeom prst="ellipse">
            <a:avLst/>
          </a:prstGeom>
          <a:solidFill>
            <a:srgbClr val="FF5A2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68096" y="36484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1408176" y="3648456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1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Merges duplicates</a:t>
            </a:r>
            <a:endParaRPr lang="en-US" sz="1550" dirty="0"/>
          </a:p>
        </p:txBody>
      </p:sp>
      <p:sp>
        <p:nvSpPr>
          <p:cNvPr id="18" name="Text 16"/>
          <p:cNvSpPr txBox="1"/>
          <p:nvPr/>
        </p:nvSpPr>
        <p:spPr>
          <a:xfrm>
            <a:off x="768096" y="4270248"/>
            <a:ext cx="49103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6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people asking the same thing become one thread — everyone is notified together once it's resolved.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172200" y="3429000"/>
            <a:ext cx="534924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9525">
            <a:solidFill>
              <a:srgbClr val="E4DFC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91656" y="3648456"/>
            <a:ext cx="457200" cy="457200"/>
          </a:xfrm>
          <a:prstGeom prst="ellipse">
            <a:avLst/>
          </a:prstGeom>
          <a:solidFill>
            <a:srgbClr val="FF5A2E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391656" y="36484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7031736" y="3648456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1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Recognizes quietly</a:t>
            </a:r>
            <a:endParaRPr lang="en-US" sz="1550" dirty="0"/>
          </a:p>
        </p:txBody>
      </p:sp>
      <p:sp>
        <p:nvSpPr>
          <p:cNvPr id="23" name="Text 21"/>
          <p:cNvSpPr txBox="1"/>
          <p:nvPr/>
        </p:nvSpPr>
        <p:spPr>
          <a:xfrm>
            <a:off x="6391656" y="4270248"/>
            <a:ext cx="49103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6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 stats are private by default. No public leaderboard unless a student opts in.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5623560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F2EEE3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22960" y="562356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41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PeerLoop never hosts course materials — it only stores what it generates itself.</a:t>
            </a:r>
            <a:endParaRPr lang="en-US" sz="1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1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quiet ask to a tracked resolution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1252728" y="1481328"/>
            <a:ext cx="2020824" cy="0"/>
          </a:xfrm>
          <a:prstGeom prst="line">
            <a:avLst/>
          </a:prstGeom>
          <a:noFill/>
          <a:ln w="13970">
            <a:solidFill>
              <a:srgbClr val="FF5A2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767328" y="1481328"/>
            <a:ext cx="2020824" cy="0"/>
          </a:xfrm>
          <a:prstGeom prst="line">
            <a:avLst/>
          </a:prstGeom>
          <a:noFill/>
          <a:ln w="13970">
            <a:solidFill>
              <a:srgbClr val="FF5A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81928" y="1481328"/>
            <a:ext cx="2020824" cy="0"/>
          </a:xfrm>
          <a:prstGeom prst="line">
            <a:avLst/>
          </a:prstGeom>
          <a:noFill/>
          <a:ln w="13970">
            <a:solidFill>
              <a:srgbClr val="FF5A2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796528" y="1481328"/>
            <a:ext cx="2020824" cy="0"/>
          </a:xfrm>
          <a:prstGeom prst="line">
            <a:avLst/>
          </a:prstGeom>
          <a:noFill/>
          <a:ln w="13970">
            <a:solidFill>
              <a:srgbClr val="FF5A2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58952" y="1234440"/>
            <a:ext cx="493776" cy="493776"/>
          </a:xfrm>
          <a:prstGeom prst="ellipse">
            <a:avLst/>
          </a:prstGeom>
          <a:solidFill>
            <a:srgbClr val="FF5A2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58952" y="123444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320040" y="180136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B6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73552" y="1234440"/>
            <a:ext cx="493776" cy="493776"/>
          </a:xfrm>
          <a:prstGeom prst="ellipse">
            <a:avLst/>
          </a:prstGeom>
          <a:solidFill>
            <a:srgbClr val="FF5A2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273552" y="123444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834640" y="180136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B6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knowledge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788152" y="1234440"/>
            <a:ext cx="493776" cy="493776"/>
          </a:xfrm>
          <a:prstGeom prst="ellipse">
            <a:avLst/>
          </a:prstGeom>
          <a:solidFill>
            <a:srgbClr val="FF5A2E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788152" y="123444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349240" y="180136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B6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/ route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302752" y="1234440"/>
            <a:ext cx="493776" cy="493776"/>
          </a:xfrm>
          <a:prstGeom prst="ellipse">
            <a:avLst/>
          </a:prstGeom>
          <a:solidFill>
            <a:srgbClr val="FF5A2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302752" y="123444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7863840" y="180136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B6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0817352" y="1234440"/>
            <a:ext cx="493776" cy="493776"/>
          </a:xfrm>
          <a:prstGeom prst="ellipse">
            <a:avLst/>
          </a:prstGeom>
          <a:solidFill>
            <a:srgbClr val="FF5A2E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10817352" y="123444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0378440" y="180136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B6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8640" y="2450592"/>
            <a:ext cx="365760" cy="365760"/>
          </a:xfrm>
          <a:prstGeom prst="ellipse">
            <a:avLst/>
          </a:prstGeom>
          <a:solidFill>
            <a:srgbClr val="FF5A2E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48640" y="24505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097280" y="2432304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cluster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3886200" y="2432304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existing answer found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8001000" y="2432304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5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48640" y="2953512"/>
            <a:ext cx="10881360" cy="0"/>
          </a:xfrm>
          <a:prstGeom prst="line">
            <a:avLst/>
          </a:prstGeom>
          <a:noFill/>
          <a:ln w="9525">
            <a:solidFill>
              <a:srgbClr val="E4DFC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8640" y="3236976"/>
            <a:ext cx="365760" cy="365760"/>
          </a:xfrm>
          <a:prstGeom prst="ellipse">
            <a:avLst/>
          </a:prstGeom>
          <a:solidFill>
            <a:srgbClr val="FF5A2E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548640" y="32369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1097280" y="321868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Wider batch</a:t>
            </a:r>
            <a:endParaRPr lang="en-US" sz="1350" dirty="0"/>
          </a:p>
        </p:txBody>
      </p:sp>
      <p:sp>
        <p:nvSpPr>
          <p:cNvPr id="31" name="Text 29"/>
          <p:cNvSpPr txBox="1"/>
          <p:nvPr/>
        </p:nvSpPr>
        <p:spPr>
          <a:xfrm>
            <a:off x="3886200" y="3218688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peer response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8001000" y="3218688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5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hours — horizontal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48640" y="3739896"/>
            <a:ext cx="10881360" cy="0"/>
          </a:xfrm>
          <a:prstGeom prst="line">
            <a:avLst/>
          </a:prstGeom>
          <a:noFill/>
          <a:ln w="9525">
            <a:solidFill>
              <a:srgbClr val="E4DFC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48640" y="4023360"/>
            <a:ext cx="365760" cy="365760"/>
          </a:xfrm>
          <a:prstGeom prst="ellipse">
            <a:avLst/>
          </a:prstGeom>
          <a:solidFill>
            <a:srgbClr val="FF5A2E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548640" y="4023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1097280" y="4005072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rep</a:t>
            </a:r>
            <a:endParaRPr lang="en-US" sz="1350" dirty="0"/>
          </a:p>
        </p:txBody>
      </p:sp>
      <p:sp>
        <p:nvSpPr>
          <p:cNvPr id="37" name="Text 35"/>
          <p:cNvSpPr txBox="1"/>
          <p:nvPr/>
        </p:nvSpPr>
        <p:spPr>
          <a:xfrm>
            <a:off x="3886200" y="400507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unresolved, or needs authority from the start</a:t>
            </a:r>
            <a:endParaRPr lang="en-US" sz="1150" dirty="0"/>
          </a:p>
        </p:txBody>
      </p:sp>
      <p:sp>
        <p:nvSpPr>
          <p:cNvPr id="38" name="Text 36"/>
          <p:cNvSpPr txBox="1"/>
          <p:nvPr/>
        </p:nvSpPr>
        <p:spPr>
          <a:xfrm>
            <a:off x="8001000" y="4005072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5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for authority · 24h otherwise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548640" y="4526280"/>
            <a:ext cx="10881360" cy="0"/>
          </a:xfrm>
          <a:prstGeom prst="line">
            <a:avLst/>
          </a:prstGeom>
          <a:noFill/>
          <a:ln w="9525">
            <a:solidFill>
              <a:srgbClr val="E4DFC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48640" y="4809744"/>
            <a:ext cx="365760" cy="365760"/>
          </a:xfrm>
          <a:prstGeom prst="ellipse">
            <a:avLst/>
          </a:prstGeom>
          <a:solidFill>
            <a:srgbClr val="FF5A2E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548640" y="48097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1097280" y="4791456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/ faculty</a:t>
            </a:r>
            <a:endParaRPr lang="en-US" sz="1350" dirty="0"/>
          </a:p>
        </p:txBody>
      </p:sp>
      <p:sp>
        <p:nvSpPr>
          <p:cNvPr id="43" name="Text 41"/>
          <p:cNvSpPr txBox="1"/>
          <p:nvPr/>
        </p:nvSpPr>
        <p:spPr>
          <a:xfrm>
            <a:off x="3886200" y="4791456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rep escalates it</a:t>
            </a:r>
            <a:endParaRPr lang="en-US" sz="1150" dirty="0"/>
          </a:p>
        </p:txBody>
      </p:sp>
      <p:sp>
        <p:nvSpPr>
          <p:cNvPr id="44" name="Text 42"/>
          <p:cNvSpPr txBox="1"/>
          <p:nvPr/>
        </p:nvSpPr>
        <p:spPr>
          <a:xfrm>
            <a:off x="8001000" y="4791456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5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 cases, with approval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548640" y="5312664"/>
            <a:ext cx="10881360" cy="0"/>
          </a:xfrm>
          <a:prstGeom prst="line">
            <a:avLst/>
          </a:prstGeom>
          <a:noFill/>
          <a:ln w="9525">
            <a:solidFill>
              <a:srgbClr val="E4DFC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48640" y="5870448"/>
            <a:ext cx="11064240" cy="621792"/>
          </a:xfrm>
          <a:prstGeom prst="roundRect">
            <a:avLst>
              <a:gd name="adj" fmla="val 14706"/>
            </a:avLst>
          </a:prstGeom>
          <a:solidFill>
            <a:srgbClr val="14151F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822960" y="5870448"/>
            <a:ext cx="10515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step past the class rep needs a human's approval — PeerLoop routes and reminds, people decide.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5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small, proving the loop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325880"/>
            <a:ext cx="3383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200" b="1" dirty="0">
                <a:solidFill>
                  <a:srgbClr val="FF5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6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395728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B9B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batch to start with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663440" y="1325880"/>
            <a:ext cx="3383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200" b="1" dirty="0">
                <a:solidFill>
                  <a:srgbClr val="FF5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6200" dirty="0"/>
          </a:p>
        </p:txBody>
      </p:sp>
      <p:sp>
        <p:nvSpPr>
          <p:cNvPr id="6" name="Text 4"/>
          <p:cNvSpPr txBox="1"/>
          <p:nvPr/>
        </p:nvSpPr>
        <p:spPr>
          <a:xfrm>
            <a:off x="4663440" y="2395728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B9B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 axes, not one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503920" y="1325880"/>
            <a:ext cx="3383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200" b="1" dirty="0">
                <a:solidFill>
                  <a:srgbClr val="FF5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6200" dirty="0"/>
          </a:p>
        </p:txBody>
      </p:sp>
      <p:sp>
        <p:nvSpPr>
          <p:cNvPr id="8" name="Text 6"/>
          <p:cNvSpPr txBox="1"/>
          <p:nvPr/>
        </p:nvSpPr>
        <p:spPr>
          <a:xfrm>
            <a:off x="8503920" y="2395728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B9B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duplicated from Classroom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3246120"/>
            <a:ext cx="3383280" cy="1691640"/>
          </a:xfrm>
          <a:prstGeom prst="roundRect">
            <a:avLst>
              <a:gd name="adj" fmla="val 6486"/>
            </a:avLst>
          </a:prstGeom>
          <a:solidFill>
            <a:srgbClr val="1D1E2A"/>
          </a:solidFill>
          <a:ln w="9525">
            <a:solidFill>
              <a:srgbClr val="33344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24128" y="3410712"/>
            <a:ext cx="29809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MVP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024128" y="3721608"/>
            <a:ext cx="2980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FF5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3–4 months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1024128" y="4050792"/>
            <a:ext cx="29809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B9B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Requests, routing, fetch-first answers, manual escalation.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3246120"/>
            <a:ext cx="3383280" cy="1691640"/>
          </a:xfrm>
          <a:prstGeom prst="roundRect">
            <a:avLst>
              <a:gd name="adj" fmla="val 6486"/>
            </a:avLst>
          </a:prstGeom>
          <a:solidFill>
            <a:srgbClr val="1D1E2A"/>
          </a:solidFill>
          <a:ln w="9525">
            <a:solidFill>
              <a:srgbClr val="33344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64608" y="3410712"/>
            <a:ext cx="29809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Agentic AI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864608" y="3721608"/>
            <a:ext cx="2980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FF5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4–6 months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4864608" y="4050792"/>
            <a:ext cx="29809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B9B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detection, tiered escalation, contribution tracking.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503920" y="3246120"/>
            <a:ext cx="3383280" cy="1691640"/>
          </a:xfrm>
          <a:prstGeom prst="roundRect">
            <a:avLst>
              <a:gd name="adj" fmla="val 6486"/>
            </a:avLst>
          </a:prstGeom>
          <a:solidFill>
            <a:srgbClr val="1D1E2A"/>
          </a:solidFill>
          <a:ln w="9525">
            <a:solidFill>
              <a:srgbClr val="33344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705088" y="3410712"/>
            <a:ext cx="29809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— Scale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8705088" y="3721608"/>
            <a:ext cx="2980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FF5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6–12 months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8705088" y="4050792"/>
            <a:ext cx="29809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B9B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dashboards, Classroom links, multi-batch rollout.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5285232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F5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PeerLoop complements WhatsApp, Messenger, and Classroom — it replaces none of them.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580644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9B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BatteryLowInteractive  —  IUT CSE 4790 Industrial Training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2026-09-19T18:17:00Z</dcterms:created>
  <dcterms:modified xsi:type="dcterms:W3CDTF">2026-09-19T18:17:00Z</dcterms:modified>
</cp:coreProperties>
</file>